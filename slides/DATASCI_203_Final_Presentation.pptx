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8" r:id="rId8"/>
    <p:sldId id="269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148F30-F263-EA4A-A295-ECD74726E4B4}" v="10" dt="2026-04-14T20:51:37.981"/>
    <p1510:client id="{DC1EA946-A807-AF4D-8D6E-DB294805A9E3}" v="3" dt="2026-04-13T23:36:34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369"/>
    <p:restoredTop sz="94288"/>
  </p:normalViewPr>
  <p:slideViewPr>
    <p:cSldViewPr snapToGrid="0">
      <p:cViewPr varScale="1">
        <p:scale>
          <a:sx n="71" d="100"/>
          <a:sy n="71" d="100"/>
        </p:scale>
        <p:origin x="6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se Mayer" userId="70a250a69a096319" providerId="LiveId" clId="{115582F9-C693-57DB-9DE2-F3C51C853208}"/>
    <pc:docChg chg="undo custSel addSld delSld modSld">
      <pc:chgData name="Chase Mayer" userId="70a250a69a096319" providerId="LiveId" clId="{115582F9-C693-57DB-9DE2-F3C51C853208}" dt="2026-04-14T20:51:57.893" v="163" actId="20577"/>
      <pc:docMkLst>
        <pc:docMk/>
      </pc:docMkLst>
      <pc:sldChg chg="modSp">
        <pc:chgData name="Chase Mayer" userId="70a250a69a096319" providerId="LiveId" clId="{115582F9-C693-57DB-9DE2-F3C51C853208}" dt="2026-04-14T20:42:49.782" v="140"/>
        <pc:sldMkLst>
          <pc:docMk/>
          <pc:sldMk cId="3553707235" sldId="259"/>
        </pc:sldMkLst>
        <pc:spChg chg="mod">
          <ac:chgData name="Chase Mayer" userId="70a250a69a096319" providerId="LiveId" clId="{115582F9-C693-57DB-9DE2-F3C51C853208}" dt="2026-04-14T20:42:49.782" v="140"/>
          <ac:spMkLst>
            <pc:docMk/>
            <pc:sldMk cId="3553707235" sldId="259"/>
            <ac:spMk id="3" creationId="{4A5462E6-4AD1-0E85-4933-C6EF91B2D494}"/>
          </ac:spMkLst>
        </pc:spChg>
      </pc:sldChg>
      <pc:sldChg chg="modSp mod">
        <pc:chgData name="Chase Mayer" userId="70a250a69a096319" providerId="LiveId" clId="{115582F9-C693-57DB-9DE2-F3C51C853208}" dt="2026-04-14T20:51:57.893" v="163" actId="20577"/>
        <pc:sldMkLst>
          <pc:docMk/>
          <pc:sldMk cId="2078461410" sldId="260"/>
        </pc:sldMkLst>
        <pc:spChg chg="mod">
          <ac:chgData name="Chase Mayer" userId="70a250a69a096319" providerId="LiveId" clId="{115582F9-C693-57DB-9DE2-F3C51C853208}" dt="2026-04-14T20:51:57.893" v="163" actId="20577"/>
          <ac:spMkLst>
            <pc:docMk/>
            <pc:sldMk cId="2078461410" sldId="260"/>
            <ac:spMk id="3" creationId="{6BCF4AD8-3AB5-D8CD-D8D4-A731EC5D9A70}"/>
          </ac:spMkLst>
        </pc:spChg>
      </pc:sldChg>
      <pc:sldChg chg="addSp delSp modSp del mod">
        <pc:chgData name="Chase Mayer" userId="70a250a69a096319" providerId="LiveId" clId="{115582F9-C693-57DB-9DE2-F3C51C853208}" dt="2026-04-14T20:36:38.366" v="137" actId="2696"/>
        <pc:sldMkLst>
          <pc:docMk/>
          <pc:sldMk cId="2367600769" sldId="261"/>
        </pc:sldMkLst>
        <pc:spChg chg="mod">
          <ac:chgData name="Chase Mayer" userId="70a250a69a096319" providerId="LiveId" clId="{115582F9-C693-57DB-9DE2-F3C51C853208}" dt="2026-04-14T20:36:07.812" v="132"/>
          <ac:spMkLst>
            <pc:docMk/>
            <pc:sldMk cId="2367600769" sldId="261"/>
            <ac:spMk id="2" creationId="{A63C5686-CA3E-BEB3-426F-B6E417AAC7B5}"/>
          </ac:spMkLst>
        </pc:spChg>
        <pc:spChg chg="mod">
          <ac:chgData name="Chase Mayer" userId="70a250a69a096319" providerId="LiveId" clId="{115582F9-C693-57DB-9DE2-F3C51C853208}" dt="2026-04-13T23:29:43.581" v="79" actId="5793"/>
          <ac:spMkLst>
            <pc:docMk/>
            <pc:sldMk cId="2367600769" sldId="261"/>
            <ac:spMk id="3" creationId="{14ED3CE4-5ADA-D124-6E78-0D4E16BDCB27}"/>
          </ac:spMkLst>
        </pc:spChg>
        <pc:picChg chg="del">
          <ac:chgData name="Chase Mayer" userId="70a250a69a096319" providerId="LiveId" clId="{115582F9-C693-57DB-9DE2-F3C51C853208}" dt="2026-04-13T23:29:31.985" v="70" actId="478"/>
          <ac:picMkLst>
            <pc:docMk/>
            <pc:sldMk cId="2367600769" sldId="261"/>
            <ac:picMk id="4" creationId="{798765C0-5EE1-04A6-57E9-BFEB7108A03B}"/>
          </ac:picMkLst>
        </pc:picChg>
        <pc:picChg chg="add mod">
          <ac:chgData name="Chase Mayer" userId="70a250a69a096319" providerId="LiveId" clId="{115582F9-C693-57DB-9DE2-F3C51C853208}" dt="2026-04-14T20:36:16.852" v="133"/>
          <ac:picMkLst>
            <pc:docMk/>
            <pc:sldMk cId="2367600769" sldId="261"/>
            <ac:picMk id="4" creationId="{DA3614AF-4592-6546-0002-1972EEBEF999}"/>
          </ac:picMkLst>
        </pc:picChg>
        <pc:picChg chg="add mod modCrop">
          <ac:chgData name="Chase Mayer" userId="70a250a69a096319" providerId="LiveId" clId="{115582F9-C693-57DB-9DE2-F3C51C853208}" dt="2026-04-13T23:34:38.488" v="102" actId="1076"/>
          <ac:picMkLst>
            <pc:docMk/>
            <pc:sldMk cId="2367600769" sldId="261"/>
            <ac:picMk id="6" creationId="{C6300133-A9B0-0520-3CA4-9E702897E761}"/>
          </ac:picMkLst>
        </pc:picChg>
      </pc:sldChg>
      <pc:sldChg chg="addSp delSp modSp del mod">
        <pc:chgData name="Chase Mayer" userId="70a250a69a096319" providerId="LiveId" clId="{115582F9-C693-57DB-9DE2-F3C51C853208}" dt="2026-04-14T20:37:02.833" v="139" actId="2696"/>
        <pc:sldMkLst>
          <pc:docMk/>
          <pc:sldMk cId="524639464" sldId="262"/>
        </pc:sldMkLst>
        <pc:spChg chg="mod">
          <ac:chgData name="Chase Mayer" userId="70a250a69a096319" providerId="LiveId" clId="{115582F9-C693-57DB-9DE2-F3C51C853208}" dt="2026-04-13T23:36:37.220" v="105" actId="20577"/>
          <ac:spMkLst>
            <pc:docMk/>
            <pc:sldMk cId="524639464" sldId="262"/>
            <ac:spMk id="2" creationId="{4097274D-203F-EC0C-2281-7F91773AF769}"/>
          </ac:spMkLst>
        </pc:spChg>
        <pc:spChg chg="mod">
          <ac:chgData name="Chase Mayer" userId="70a250a69a096319" providerId="LiveId" clId="{115582F9-C693-57DB-9DE2-F3C51C853208}" dt="2026-04-13T23:34:07.248" v="98" actId="20577"/>
          <ac:spMkLst>
            <pc:docMk/>
            <pc:sldMk cId="524639464" sldId="262"/>
            <ac:spMk id="3" creationId="{9FCCA158-608A-92BB-45DE-10040181E5E6}"/>
          </ac:spMkLst>
        </pc:spChg>
        <pc:picChg chg="add mod modCrop">
          <ac:chgData name="Chase Mayer" userId="70a250a69a096319" providerId="LiveId" clId="{115582F9-C693-57DB-9DE2-F3C51C853208}" dt="2026-04-13T23:34:21.292" v="100" actId="1076"/>
          <ac:picMkLst>
            <pc:docMk/>
            <pc:sldMk cId="524639464" sldId="262"/>
            <ac:picMk id="5" creationId="{1B0B1545-3B3C-1567-5F43-60769603D237}"/>
          </ac:picMkLst>
        </pc:picChg>
        <pc:picChg chg="del">
          <ac:chgData name="Chase Mayer" userId="70a250a69a096319" providerId="LiveId" clId="{115582F9-C693-57DB-9DE2-F3C51C853208}" dt="2026-04-13T23:30:21.201" v="88" actId="478"/>
          <ac:picMkLst>
            <pc:docMk/>
            <pc:sldMk cId="524639464" sldId="262"/>
            <ac:picMk id="7" creationId="{79F216EC-0330-C7E8-3B2E-E95F8C2B27BC}"/>
          </ac:picMkLst>
        </pc:picChg>
      </pc:sldChg>
      <pc:sldChg chg="modSp mod">
        <pc:chgData name="Chase Mayer" userId="70a250a69a096319" providerId="LiveId" clId="{115582F9-C693-57DB-9DE2-F3C51C853208}" dt="2026-04-14T20:22:36.177" v="119"/>
        <pc:sldMkLst>
          <pc:docMk/>
          <pc:sldMk cId="1414423369" sldId="263"/>
        </pc:sldMkLst>
        <pc:spChg chg="mod">
          <ac:chgData name="Chase Mayer" userId="70a250a69a096319" providerId="LiveId" clId="{115582F9-C693-57DB-9DE2-F3C51C853208}" dt="2026-04-14T20:22:36.177" v="119"/>
          <ac:spMkLst>
            <pc:docMk/>
            <pc:sldMk cId="1414423369" sldId="263"/>
            <ac:spMk id="3" creationId="{B4F91F9C-29AE-F36B-DF5C-7F60E55222F4}"/>
          </ac:spMkLst>
        </pc:spChg>
      </pc:sldChg>
      <pc:sldChg chg="del">
        <pc:chgData name="Chase Mayer" userId="70a250a69a096319" providerId="LiveId" clId="{115582F9-C693-57DB-9DE2-F3C51C853208}" dt="2026-04-13T23:30:13.334" v="87" actId="2696"/>
        <pc:sldMkLst>
          <pc:docMk/>
          <pc:sldMk cId="338025121" sldId="265"/>
        </pc:sldMkLst>
      </pc:sldChg>
      <pc:sldChg chg="addSp delSp modSp mod">
        <pc:chgData name="Chase Mayer" userId="70a250a69a096319" providerId="LiveId" clId="{115582F9-C693-57DB-9DE2-F3C51C853208}" dt="2026-04-14T20:35:46.539" v="131" actId="14100"/>
        <pc:sldMkLst>
          <pc:docMk/>
          <pc:sldMk cId="3076698675" sldId="266"/>
        </pc:sldMkLst>
        <pc:spChg chg="add del mod">
          <ac:chgData name="Chase Mayer" userId="70a250a69a096319" providerId="LiveId" clId="{115582F9-C693-57DB-9DE2-F3C51C853208}" dt="2026-04-14T20:35:42.593" v="130"/>
          <ac:spMkLst>
            <pc:docMk/>
            <pc:sldMk cId="3076698675" sldId="266"/>
            <ac:spMk id="5" creationId="{696F0CC8-3D45-318A-E3FF-7E14A497FAFF}"/>
          </ac:spMkLst>
        </pc:spChg>
        <pc:picChg chg="del">
          <ac:chgData name="Chase Mayer" userId="70a250a69a096319" providerId="LiveId" clId="{115582F9-C693-57DB-9DE2-F3C51C853208}" dt="2026-04-14T20:35:40.225" v="128" actId="478"/>
          <ac:picMkLst>
            <pc:docMk/>
            <pc:sldMk cId="3076698675" sldId="266"/>
            <ac:picMk id="4" creationId="{3C82266F-5497-BC0C-27D4-A2800E487686}"/>
          </ac:picMkLst>
        </pc:picChg>
        <pc:picChg chg="add mod ord">
          <ac:chgData name="Chase Mayer" userId="70a250a69a096319" providerId="LiveId" clId="{115582F9-C693-57DB-9DE2-F3C51C853208}" dt="2026-04-14T20:35:46.539" v="131" actId="14100"/>
          <ac:picMkLst>
            <pc:docMk/>
            <pc:sldMk cId="3076698675" sldId="266"/>
            <ac:picMk id="7" creationId="{7DBB755E-C36D-7AC1-6D5E-718CC44231BB}"/>
          </ac:picMkLst>
        </pc:picChg>
      </pc:sldChg>
      <pc:sldChg chg="new del">
        <pc:chgData name="Chase Mayer" userId="70a250a69a096319" providerId="LiveId" clId="{115582F9-C693-57DB-9DE2-F3C51C853208}" dt="2026-04-14T20:36:36.507" v="136" actId="2696"/>
        <pc:sldMkLst>
          <pc:docMk/>
          <pc:sldMk cId="1354262094" sldId="267"/>
        </pc:sldMkLst>
      </pc:sldChg>
      <pc:sldChg chg="add">
        <pc:chgData name="Chase Mayer" userId="70a250a69a096319" providerId="LiveId" clId="{115582F9-C693-57DB-9DE2-F3C51C853208}" dt="2026-04-14T20:36:33.565" v="135"/>
        <pc:sldMkLst>
          <pc:docMk/>
          <pc:sldMk cId="0" sldId="268"/>
        </pc:sldMkLst>
      </pc:sldChg>
      <pc:sldChg chg="add">
        <pc:chgData name="Chase Mayer" userId="70a250a69a096319" providerId="LiveId" clId="{115582F9-C693-57DB-9DE2-F3C51C853208}" dt="2026-04-14T20:36:58.305" v="138"/>
        <pc:sldMkLst>
          <pc:docMk/>
          <pc:sldMk cId="0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09C0-DC71-4D94-E01B-C8A66AC54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F9DF1-4CE6-74F7-A471-0B631DBEF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52A0C-CEBB-DE55-EA1B-5EEF0780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243D2-FD30-304C-B46C-6EEBA1F2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793BF-C348-11C3-136D-9FB9EBB4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90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7936-FC34-E8A0-1515-45088920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BFB32-02DF-8659-96C0-FB5A79005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28B8D-2E67-B009-126F-78B59D6A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B8FA8-9AF7-6CD7-BDF2-8A8F9DF14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2A158-EB4D-FB58-BAE2-141BCDBD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8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FDA9-A7A8-4B89-7F48-4AC5FE94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77B31-A1EB-CF1F-273F-8B1D18887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4E4DE-742A-6822-3149-D7F1B820C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0A8E0-CC30-A183-C5FB-63037DAA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33731-F9BC-8962-5C2A-2C96ACF3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3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7DC0-696D-81FB-1B08-B9717643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42F0D-481A-532D-2ADC-23401391A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5D978-DF09-0321-B0DC-E367BBA00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E3F69-80F2-099D-9086-1CF0C7A8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B4F6B-1903-F43A-2668-51389374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F4F05-D279-0BDC-7ABF-558E889B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4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AC182-734E-BB9A-0E6E-6EEC2079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937DD-B2D1-5177-4E77-6BB97C1C2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359B1-049E-2712-A292-C4CEE4302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72429-C551-B3BB-DCF7-FA438E3AB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156EE-3328-095C-0FE6-F1AECE56D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B8F9F7-F024-9907-DDB7-0D4C5DC42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7A11B-A8DE-E270-961A-393C6635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5E9810-023A-C769-8314-B4EB2108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A0D9-7353-057D-A34F-33B33B0B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ADD43-DE9F-CAF6-5117-01D4EDC9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D6D8E-6601-D9EE-0149-B7239076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F2FB2-0DD0-602E-F483-B5255979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2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0C1FC-1E93-DAF8-E29E-4E926D84E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93923-DAFC-35C7-793B-A8EDD3C53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B0B14-6433-C15D-FF20-71025FC5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8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052C-E206-6CFB-BC5F-899C2AC7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A4D8D-AA0B-D468-18F6-BDC4E8C09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5AF59-C3DA-2B07-3EE8-4B463571D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1C28A-BF8D-5D08-A82E-C54EFCE6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6951A-009C-5159-49C3-5E022CC4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DD4D4-A950-8CA5-157B-A0616D13F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5B3D-B253-C74C-718D-27D5E246A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CA464-4104-AD85-738E-D12A5A7A5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C03A2-2097-8DA7-A577-712381956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16F3F-E5CD-2AD6-8B07-D66D293B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09EBF-9572-24D7-676D-8B65432F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3C53D-D040-753C-ED3B-CA6D4DBC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6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0C42-3D39-A3CB-5BD6-686E7418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F8793-82DB-22CC-85E7-B203392F5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3E69-153A-DBD1-6E6D-3D4BF882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C4BFA-E01A-EF6F-3844-BAB117BA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06207-351B-C801-7FC2-D0961085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991C1-BDAB-1AFD-036A-24F68FB79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AAF8D-6F5C-0FBE-9EE7-5785A02D9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B4380-51DA-D921-8D39-DB3EADF7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02EA7-82FD-712D-BFB8-9580939B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3D8AF-A050-EADE-F8D4-50E2AABE7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13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C7A4C-E6C6-4AAC-BA4F-D7D0EE904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5A969-AFE9-8BD7-8734-75516E90A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5E877-2B54-8E9F-C0E4-B72382979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53574-C05B-7149-AFE3-E69EBDAC472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B06A5-2A37-3E56-F63A-D928FF032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43081-279F-8A99-BD9E-9609E58DA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93C7E-63D6-F04F-AB06-E208D31A0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AF79-98B6-C0B5-F8C1-1CE2E711C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113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Is Cholesterol Overrated? Examining Its Independent Effect on Heart Disease Risk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22B96-D6DD-075F-FE0C-4C56F413C1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Logan Calder, Chase Mayer, Anirudh Ramesh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59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69D2-6345-CA6D-577B-BFC52FB5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3D424-1297-A688-6EFC-B1E6C2B4A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000"/>
              </a:lnSpc>
              <a:spcAft>
                <a:spcPts val="400"/>
              </a:spcAft>
            </a:pPr>
            <a:r>
              <a:rPr lang="en-US" sz="2000" b="1" dirty="0"/>
              <a:t>In this project, we are investigating...</a:t>
            </a:r>
          </a:p>
          <a:p>
            <a:pPr marL="457200">
              <a:lnSpc>
                <a:spcPts val="1800"/>
              </a:lnSpc>
              <a:spcAft>
                <a:spcPts val="200"/>
              </a:spcAft>
            </a:pPr>
            <a:r>
              <a:rPr lang="en-US" sz="1800" dirty="0"/>
              <a:t>What is the relationship between serum cholesterol (mg/dL) and the presence of coronary heart disease, and how does that relationship change after adjusting for age and resting blood pressure?</a:t>
            </a:r>
          </a:p>
          <a:p>
            <a:pPr>
              <a:lnSpc>
                <a:spcPts val="1800"/>
              </a:lnSpc>
              <a:spcBef>
                <a:spcPts val="600"/>
              </a:spcBef>
              <a:spcAft>
                <a:spcPts val="200"/>
              </a:spcAft>
            </a:pPr>
            <a:r>
              <a:rPr lang="en-US" sz="1800" b="1" dirty="0"/>
              <a:t>Why it matters</a:t>
            </a:r>
          </a:p>
          <a:p>
            <a:pPr marL="457200">
              <a:buChar char="•"/>
            </a:pPr>
            <a:r>
              <a:rPr lang="en-US" sz="1600" dirty="0"/>
              <a:t>Cholesterol drives decades of dietary guidelines and pharmaceutical development</a:t>
            </a:r>
          </a:p>
          <a:p>
            <a:pPr marL="457200">
              <a:buChar char="•"/>
            </a:pPr>
            <a:r>
              <a:rPr lang="en-US" sz="1600" dirty="0"/>
              <a:t>Recent evidence suggests its independent signal weakens once age and BP are controlled for</a:t>
            </a:r>
          </a:p>
          <a:p>
            <a:pPr marL="457200">
              <a:buChar char="•"/>
            </a:pPr>
            <a:r>
              <a:rPr lang="en-US" sz="1600" dirty="0"/>
              <a:t>This is a purely </a:t>
            </a:r>
            <a:r>
              <a:rPr lang="en-US" sz="1600" b="1" dirty="0"/>
              <a:t>descriptive</a:t>
            </a:r>
            <a:r>
              <a:rPr lang="en-US" sz="1600" dirty="0"/>
              <a:t> question — not causal inference</a:t>
            </a:r>
          </a:p>
        </p:txBody>
      </p:sp>
    </p:spTree>
    <p:extLst>
      <p:ext uri="{BB962C8B-B14F-4D97-AF65-F5344CB8AC3E}">
        <p14:creationId xmlns:p14="http://schemas.microsoft.com/office/powerpoint/2010/main" val="2545587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AFEDC-4BC5-66FB-3588-3BB984C3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Operationalization and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186CC-57E4-4234-E183-880046B6B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spcAft>
                <a:spcPts val="200"/>
              </a:spcAft>
            </a:pPr>
            <a:r>
              <a:rPr lang="en-US" sz="1800" b="1" dirty="0"/>
              <a:t>Outcome (Y): </a:t>
            </a:r>
            <a:r>
              <a:rPr lang="en-US" sz="1800" dirty="0"/>
              <a:t>Binary heart disease indicator — 1 if vessel narrowing present, 0 otherwise</a:t>
            </a:r>
          </a:p>
          <a:p>
            <a:pPr>
              <a:lnSpc>
                <a:spcPts val="1800"/>
              </a:lnSpc>
              <a:spcAft>
                <a:spcPts val="200"/>
              </a:spcAft>
            </a:pPr>
            <a:r>
              <a:rPr lang="en-US" sz="1800" b="1" dirty="0"/>
              <a:t>Primary predictor (X): </a:t>
            </a:r>
            <a:r>
              <a:rPr lang="en-US" sz="1800" dirty="0"/>
              <a:t>Serum cholesterol (mg/dL) from fasting blood draw</a:t>
            </a:r>
          </a:p>
          <a:p>
            <a:pPr>
              <a:lnSpc>
                <a:spcPts val="1800"/>
              </a:lnSpc>
              <a:spcAft>
                <a:spcPts val="200"/>
              </a:spcAft>
            </a:pPr>
            <a:r>
              <a:rPr lang="en-US" sz="1800" b="1" dirty="0"/>
              <a:t>Covariates: </a:t>
            </a:r>
            <a:r>
              <a:rPr lang="en-US" sz="1800" dirty="0"/>
              <a:t>Age (years), Resting blood pressure (mmHg)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800" b="1" dirty="0"/>
              <a:t>Slippage to consider</a:t>
            </a:r>
          </a:p>
          <a:p>
            <a:pPr marL="457200">
              <a:buChar char="•"/>
            </a:pPr>
            <a:r>
              <a:rPr lang="en-US" sz="1600" dirty="0"/>
              <a:t>Binary outcome discards disease severity (original scale: 0–4)</a:t>
            </a:r>
          </a:p>
          <a:p>
            <a:pPr marL="457200">
              <a:buChar char="•"/>
            </a:pPr>
            <a:r>
              <a:rPr lang="en-US" sz="1600" dirty="0"/>
              <a:t>Cholesterol is a single snapshot — does not capture trends over time</a:t>
            </a:r>
          </a:p>
          <a:p>
            <a:pPr marL="457200">
              <a:buChar char="•"/>
            </a:pPr>
            <a:r>
              <a:rPr lang="en-US" sz="1600" dirty="0"/>
              <a:t>Statin use not recorded — could suppress measured cholesterol in high-risk patients</a:t>
            </a:r>
          </a:p>
        </p:txBody>
      </p:sp>
    </p:spTree>
    <p:extLst>
      <p:ext uri="{BB962C8B-B14F-4D97-AF65-F5344CB8AC3E}">
        <p14:creationId xmlns:p14="http://schemas.microsoft.com/office/powerpoint/2010/main" val="300840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67CE-3FC8-6770-7DE8-48A78165B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462E6-4AD1-0E85-4933-C6EF91B2D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spcAft>
                <a:spcPts val="200"/>
              </a:spcAft>
            </a:pPr>
            <a:r>
              <a:rPr lang="en-US" sz="1800" b="1" dirty="0"/>
              <a:t>Dataset: </a:t>
            </a:r>
            <a:r>
              <a:rPr lang="en-US" sz="1800" dirty="0"/>
              <a:t>UCI Heart Disease dataset (Janosi et al., 1988) — 4 clinical sites</a:t>
            </a:r>
          </a:p>
          <a:p>
            <a:pPr>
              <a:lnSpc>
                <a:spcPts val="1800"/>
              </a:lnSpc>
              <a:spcAft>
                <a:spcPts val="200"/>
              </a:spcAft>
            </a:pPr>
            <a:r>
              <a:rPr lang="en-US" sz="1800" b="1" dirty="0"/>
              <a:t>Unit of observation: </a:t>
            </a:r>
            <a:r>
              <a:rPr lang="en-US" sz="1800" dirty="0"/>
              <a:t>Individual patient visit with angiographic examination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800" b="1" dirty="0"/>
              <a:t>Sample construction</a:t>
            </a:r>
          </a:p>
          <a:p>
            <a:pPr marL="457200"/>
            <a:r>
              <a:rPr lang="en-US" sz="1600" dirty="0"/>
              <a:t>Primary: Cleveland Clinic (n = 304 before cleaning, 303 after); pooled four-site (n = 675) for replication</a:t>
            </a:r>
          </a:p>
          <a:p>
            <a:pPr marL="457200">
              <a:buChar char="•"/>
            </a:pPr>
            <a:r>
              <a:rPr lang="en-US" sz="1600" dirty="0"/>
              <a:t>Cleveland split 70/30: 70% confirmation set (n = 213), 30% exploration set</a:t>
            </a:r>
          </a:p>
          <a:p>
            <a:pPr marL="457200">
              <a:buChar char="•"/>
            </a:pPr>
            <a:r>
              <a:rPr lang="en-US" sz="1600" dirty="0"/>
              <a:t>Clinical convenience sample — higher-risk patients referred for angiography</a:t>
            </a:r>
          </a:p>
          <a:p>
            <a:pPr marL="457200">
              <a:buChar char="•"/>
            </a:pPr>
            <a:r>
              <a:rPr lang="en-US" sz="1600" dirty="0"/>
              <a:t>Base rate of heart disease ~47% — far higher than general population; do not extrapolate</a:t>
            </a:r>
          </a:p>
        </p:txBody>
      </p:sp>
    </p:spTree>
    <p:extLst>
      <p:ext uri="{BB962C8B-B14F-4D97-AF65-F5344CB8AC3E}">
        <p14:creationId xmlns:p14="http://schemas.microsoft.com/office/powerpoint/2010/main" val="3553707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4E1E-FECF-4B14-106F-A38820564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F4AD8-3AB5-D8CD-D8D4-A731EC5D9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spcAft>
                <a:spcPts val="200"/>
              </a:spcAft>
            </a:pPr>
            <a:r>
              <a:rPr lang="en-US" sz="1800" b="1" dirty="0"/>
              <a:t>4 Linear Probability Models: </a:t>
            </a:r>
            <a:r>
              <a:rPr lang="en-US" sz="1800" dirty="0"/>
              <a:t>Cleveland + all-sites × unadjusted + adjusted. HC3 robust SEs throughout.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800" b="1" dirty="0"/>
              <a:t>Key findings</a:t>
            </a:r>
          </a:p>
          <a:p>
            <a:pPr marL="457200">
              <a:buChar char="•"/>
            </a:pPr>
            <a:r>
              <a:rPr lang="en-US" sz="1600" dirty="0"/>
              <a:t>Cholesterol not significant in Cleveland alone (p ≈ 0.26 unadjusted; p ≈ 0.72 adjusted)</a:t>
            </a:r>
          </a:p>
          <a:p>
            <a:pPr marL="457200">
              <a:buChar char="•"/>
            </a:pPr>
            <a:r>
              <a:rPr lang="en-US" sz="1600" dirty="0"/>
              <a:t>Cholesterol reaches significance in all-sites (larger n = 675), but effect size identical: +100 mg/dL → ~10 pp increase</a:t>
            </a:r>
          </a:p>
          <a:p>
            <a:pPr marL="457200">
              <a:buChar char="•"/>
            </a:pPr>
            <a:r>
              <a:rPr lang="en-US" sz="1600" dirty="0"/>
              <a:t>Age is the dominant predictor: each additional decade → ~9 pp (p &lt; 0.05)</a:t>
            </a:r>
          </a:p>
          <a:p>
            <a:pPr marL="457200">
              <a:buChar char="•"/>
            </a:pPr>
            <a:r>
              <a:rPr lang="en-US" sz="1600" dirty="0"/>
              <a:t>Model fit: adjusted R² = 0.055 (Cleveland), 0.093 (all sites) — low in absolute terms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800" b="1" dirty="0"/>
              <a:t>Practical significance (Model 2, sample medians: chol=243, age=56, BP=130)</a:t>
            </a:r>
          </a:p>
          <a:p>
            <a:pPr marL="457200"/>
            <a:r>
              <a:rPr lang="en-US" sz="1600" dirty="0"/>
              <a:t>A 100 mg/dL increase </a:t>
            </a:r>
            <a:r>
              <a:rPr lang="en-US" sz="1600"/>
              <a:t>in Cholesterol </a:t>
            </a:r>
            <a:r>
              <a:rPr lang="en-US" sz="1600" dirty="0"/>
              <a:t>shifts predicted probability by ~10pp</a:t>
            </a:r>
          </a:p>
          <a:p>
            <a:pPr marL="457200"/>
            <a:r>
              <a:rPr lang="en-US" sz="1600" dirty="0"/>
              <a:t>Age 56→66 (same cholesterol) shifts predicted probability by ~9 pp</a:t>
            </a:r>
          </a:p>
        </p:txBody>
      </p:sp>
    </p:spTree>
    <p:extLst>
      <p:ext uri="{BB962C8B-B14F-4D97-AF65-F5344CB8AC3E}">
        <p14:creationId xmlns:p14="http://schemas.microsoft.com/office/powerpoint/2010/main" val="2078461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C6E5-3B1D-C9F7-4B7B-F9D9B6FEC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BB755E-C36D-7AC1-6D5E-718CC4423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581" y="1600121"/>
            <a:ext cx="9212669" cy="44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98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688" y="200000"/>
            <a:ext cx="11270512" cy="1100000"/>
          </a:xfrm>
        </p:spPr>
        <p:txBody>
          <a:bodyPr>
            <a:noAutofit/>
          </a:bodyPr>
          <a:lstStyle/>
          <a:p>
            <a:r>
              <a:rPr lang="en-US" sz="3200" dirty="0"/>
              <a:t>Data Visualization: What the Data Shows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00000" y="5500000"/>
            <a:ext cx="11500000" cy="12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sz="1500" b="1" dirty="0"/>
              <a:t>Left: </a:t>
            </a:r>
            <a:r>
              <a:rPr lang="en-US" sz="1500" dirty="0"/>
              <a:t>Cholesterol IQRs overlap almost entirely — no visual separation between disease and no-disease groups</a:t>
            </a:r>
          </a:p>
          <a:p>
            <a:pPr marL="0" indent="0">
              <a:buNone/>
            </a:pPr>
            <a:r>
              <a:rPr lang="en-US" sz="1500" b="1" dirty="0"/>
              <a:t>Right: </a:t>
            </a:r>
            <a:r>
              <a:rPr lang="en-US" sz="1500" dirty="0"/>
              <a:t>Three cholesterol lines (low/median/high) track nearly on top of each other; age 30→70 drives ~40pp increase in predicted risk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300000"/>
            <a:ext cx="4600000" cy="4153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1300000"/>
            <a:ext cx="5000000" cy="40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688" y="200000"/>
            <a:ext cx="11270512" cy="1000000"/>
          </a:xfrm>
        </p:spPr>
        <p:txBody>
          <a:bodyPr>
            <a:noAutofit/>
          </a:bodyPr>
          <a:lstStyle/>
          <a:p>
            <a:r>
              <a:rPr lang="en-US" sz="3200" dirty="0"/>
              <a:t>Residuals vs. Fitted: Assumption Checks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00000" y="5450000"/>
            <a:ext cx="11500000" cy="1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>
              <a:buChar char="•"/>
            </a:pPr>
            <a:r>
              <a:rPr lang="en-US" sz="1500" dirty="0"/>
              <a:t>Loess smoother tracks near zero — no systematic curvature, linear CEF supported</a:t>
            </a:r>
          </a:p>
          <a:p>
            <a:pPr marL="457200">
              <a:buChar char="•"/>
            </a:pPr>
            <a:r>
              <a:rPr lang="en-US" sz="1500" dirty="0"/>
              <a:t>Pairwise correlations |r| &lt; 0.35; VIF &lt; 1.15 — no multicollinearity concern</a:t>
            </a:r>
          </a:p>
          <a:p>
            <a:pPr marL="457200">
              <a:buChar char="•"/>
            </a:pPr>
            <a:r>
              <a:rPr lang="en-US" sz="1500" dirty="0"/>
              <a:t>Heteroskedasticity expected with binary outcome — addressed throughout with HC3 robust 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250000"/>
            <a:ext cx="9500000" cy="413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9914-6674-03A4-0517-CB4136C4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91F9C-29AE-F36B-DF5C-7F60E5522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>
              <a:buChar char="•"/>
            </a:pPr>
            <a:r>
              <a:rPr lang="en-US" sz="1800" dirty="0"/>
              <a:t>Cholesterol shows a </a:t>
            </a:r>
            <a:r>
              <a:rPr lang="en-US" sz="1800" b="1" dirty="0"/>
              <a:t>statistically fragile and practically small</a:t>
            </a:r>
            <a:r>
              <a:rPr lang="en-US" sz="1800" dirty="0"/>
              <a:t> association with heart disease</a:t>
            </a:r>
          </a:p>
          <a:p>
            <a:pPr marL="457200">
              <a:buChar char="•"/>
            </a:pPr>
            <a:r>
              <a:rPr lang="en-US" sz="1800" dirty="0"/>
              <a:t>Its descriptive signal is largely absorbed by </a:t>
            </a:r>
            <a:r>
              <a:rPr lang="en-US" sz="1800" b="1" dirty="0"/>
              <a:t>age</a:t>
            </a:r>
            <a:r>
              <a:rPr lang="en-US" sz="1800" dirty="0"/>
              <a:t> and, to a lesser extent, </a:t>
            </a:r>
            <a:r>
              <a:rPr lang="en-US" sz="1800" b="1" dirty="0"/>
              <a:t>blood pressure</a:t>
            </a:r>
          </a:p>
          <a:p>
            <a:pPr marL="457200">
              <a:buChar char="•"/>
            </a:pPr>
            <a:r>
              <a:rPr lang="en-US" sz="1800" b="1" dirty="0"/>
              <a:t>Key limitation: </a:t>
            </a:r>
            <a:r>
              <a:rPr lang="en-US" sz="1800" dirty="0"/>
              <a:t>Statin use not recorded — could suppress cholesterol in highest-risk patients, potentially understating its relevance</a:t>
            </a:r>
          </a:p>
          <a:p>
            <a:pPr marL="457200">
              <a:buChar char="•"/>
            </a:pPr>
            <a:r>
              <a:rPr lang="en-US" sz="1800" dirty="0"/>
              <a:t>Questions for the audience:</a:t>
            </a:r>
          </a:p>
          <a:p>
            <a:pPr marL="914400" lvl="1"/>
            <a:r>
              <a:rPr lang="en-US" sz="1800" dirty="0"/>
              <a:t>"We used a linear probability model rather than logistic regression for interpretability — is that the right tradeoff here?”</a:t>
            </a:r>
          </a:p>
          <a:p>
            <a:pPr marL="914400" lvl="1"/>
            <a:r>
              <a:rPr lang="en-US" sz="1800" dirty="0"/>
              <a:t>"Are there other confounders beyond age and BP we should have included?”</a:t>
            </a:r>
          </a:p>
          <a:p>
            <a:pPr marL="914400" lvl="1"/>
            <a:r>
              <a:rPr lang="en-US" sz="1800" dirty="0"/>
              <a:t>"We excluded observations where cholesterol was recorded as zero, treating them as physiologically implausible rather than true zero values. Could this exclusion have introduced selection bias — and if so, in which direction?”</a:t>
            </a:r>
          </a:p>
          <a:p>
            <a:pPr marL="914400" lvl="1"/>
            <a:r>
              <a:rPr lang="en-US" sz="1800" dirty="0"/>
              <a:t>"Our sample consists entirely of patients already referred for angiography, meaning they were already flagged as higher-risk. How do you think this referral bias affects the generalizability of our cholesterol finding to the broader population?"</a:t>
            </a:r>
          </a:p>
          <a:p>
            <a:pPr marL="914400" lvl="1"/>
            <a:endParaRPr lang="en-US" sz="1800" dirty="0"/>
          </a:p>
          <a:p>
            <a:pPr marL="457200"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14423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5933-32A5-BE6D-BC21-251046EA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9A349-A053-E218-06F2-4E81A9683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spcAft>
                <a:spcPts val="500"/>
              </a:spcAft>
            </a:pPr>
            <a:r>
              <a:rPr lang="en-US" sz="1600" dirty="0"/>
              <a:t>Janosi, A., Steinbrunn, W., Pfisterer, M., &amp; Detrano, R. (1988). </a:t>
            </a:r>
            <a:r>
              <a:rPr lang="en-US" sz="1600" i="1" dirty="0"/>
              <a:t>Heart Disease</a:t>
            </a:r>
            <a:r>
              <a:rPr lang="en-US" sz="1600" dirty="0"/>
              <a:t> [Dataset]. UCI Machine Learning Repository. https://archive.ics.uci.edu/dataset/45/heart+disease</a:t>
            </a:r>
          </a:p>
          <a:p>
            <a:pPr>
              <a:lnSpc>
                <a:spcPts val="1800"/>
              </a:lnSpc>
              <a:spcAft>
                <a:spcPts val="500"/>
              </a:spcAft>
            </a:pPr>
            <a:r>
              <a:rPr lang="en-US" sz="1600" dirty="0"/>
              <a:t>Wilson, P. W., et al. (1998). Prediction of coronary heart disease using risk factor categories. </a:t>
            </a:r>
            <a:r>
              <a:rPr lang="en-US" sz="1600" i="1" dirty="0"/>
              <a:t>Circulation.</a:t>
            </a:r>
            <a:r>
              <a:rPr lang="en-US" sz="1600" dirty="0"/>
              <a:t> https://www.ahajournals.org/doi/epub/10.1161/01.CIR.97.18.1837</a:t>
            </a:r>
          </a:p>
          <a:p>
            <a:pPr>
              <a:lnSpc>
                <a:spcPts val="1800"/>
              </a:lnSpc>
              <a:spcAft>
                <a:spcPts val="500"/>
              </a:spcAft>
            </a:pPr>
            <a:r>
              <a:rPr lang="en-US" sz="1600" dirty="0"/>
              <a:t>Detrano, R., et al. (1989). Bayesian analysis of hygienic and noninvasive test data in the diagnosis of coronary artery disease. </a:t>
            </a:r>
            <a:r>
              <a:rPr lang="en-US" sz="1600" i="1" dirty="0"/>
              <a:t>American Journal of Cardiology.</a:t>
            </a:r>
            <a:r>
              <a:rPr lang="en-US" sz="1600" dirty="0"/>
              <a:t> https://www.sciencedirect.com/science/article/pii/0002914989905249</a:t>
            </a:r>
          </a:p>
        </p:txBody>
      </p:sp>
    </p:spTree>
    <p:extLst>
      <p:ext uri="{BB962C8B-B14F-4D97-AF65-F5344CB8AC3E}">
        <p14:creationId xmlns:p14="http://schemas.microsoft.com/office/powerpoint/2010/main" val="4282242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842</Words>
  <Application>Microsoft Macintosh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Is Cholesterol Overrated? Examining Its Independent Effect on Heart Disease Risk </vt:lpstr>
      <vt:lpstr>Research Question</vt:lpstr>
      <vt:lpstr>Operationalization and Variables</vt:lpstr>
      <vt:lpstr>Population</vt:lpstr>
      <vt:lpstr>Regression Results</vt:lpstr>
      <vt:lpstr>Regression Results</vt:lpstr>
      <vt:lpstr>Data Visualization: What the Data Shows</vt:lpstr>
      <vt:lpstr>Residuals vs. Fitted: Assumption Checks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Chase Mayer</dc:creator>
  <cp:lastModifiedBy>Chase Mayer</cp:lastModifiedBy>
  <cp:revision>11</cp:revision>
  <dcterms:created xsi:type="dcterms:W3CDTF">2026-04-13T23:02:33Z</dcterms:created>
  <dcterms:modified xsi:type="dcterms:W3CDTF">2026-04-14T20:51:58Z</dcterms:modified>
</cp:coreProperties>
</file>